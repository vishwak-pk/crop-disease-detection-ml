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636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photorealistic_sunrise_farm_landscape_scen_batch_1.png"/>
          <p:cNvPicPr>
            <a:picLocks noChangeAspect="1"/>
          </p:cNvPicPr>
          <p:nvPr/>
        </p:nvPicPr>
        <p:blipFill>
          <a:blip r:embed="rId3"/>
          <a:srcRect r="-5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27432"/>
            <a:ext cx="5715000" cy="6858000"/>
          </a:xfrm>
          <a:prstGeom prst="rect">
            <a:avLst/>
          </a:prstGeom>
          <a:solidFill>
            <a:srgbClr val="172A3A">
              <a:alpha val="92000"/>
            </a:srgbClr>
          </a:solidFill>
          <a:ln w="12700">
            <a:solidFill>
              <a:srgbClr val="172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        </a:t>
            </a:r>
            <a:r>
              <a:rPr lang="en-US" sz="2400" b="1" dirty="0">
                <a:solidFill>
                  <a:schemeClr val="bg1"/>
                </a:solidFill>
              </a:rPr>
              <a:t>Presented by: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        P </a:t>
            </a:r>
            <a:r>
              <a:rPr lang="en-US" sz="2400" b="1" dirty="0" err="1">
                <a:solidFill>
                  <a:schemeClr val="bg1"/>
                </a:solidFill>
              </a:rPr>
              <a:t>Vishwak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58368" y="96012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Crop Disease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Detection Using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Machine Learning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94944" y="3136392"/>
            <a:ext cx="1234440" cy="0"/>
          </a:xfrm>
          <a:prstGeom prst="line">
            <a:avLst/>
          </a:prstGeom>
          <a:noFill/>
          <a:ln w="508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13232" y="34015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D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Multi-class classification for AgriTech sensor data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13232" y="607161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D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Project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objective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84124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17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classifier that predicts crop-health status from field, soil and sensor data.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51560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572768"/>
            <a:ext cx="4983480" cy="4133088"/>
          </a:xfrm>
          <a:prstGeom prst="roundRect">
            <a:avLst>
              <a:gd name="adj" fmla="val 1549"/>
            </a:avLst>
          </a:prstGeom>
          <a:solidFill>
            <a:srgbClr val="FFFFFF"/>
          </a:solidFill>
          <a:ln w="7620">
            <a:solidFill>
              <a:srgbClr val="D9D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7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TO SOLVE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whether a crop observation is healthy or affected by fungal disease, bacterial disease, or pest damage.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60120" y="3319272"/>
            <a:ext cx="45720" cy="777240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24712" y="3346704"/>
            <a:ext cx="4133088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prediction is based on environmental readings, soil measurements, crop information and farm-management records.</a:t>
            </a:r>
            <a:endParaRPr lang="en-US" sz="1250" dirty="0"/>
          </a:p>
        </p:txBody>
      </p:sp>
      <p:pic>
        <p:nvPicPr>
          <p:cNvPr id="10" name="Image 0" descr="/mnt/data/a_crisp_cinematic_photorealistic_agricultural_fi_batch_2.png"/>
          <p:cNvPicPr>
            <a:picLocks noChangeAspect="1"/>
          </p:cNvPicPr>
          <p:nvPr/>
        </p:nvPicPr>
        <p:blipFill>
          <a:blip r:embed="rId3"/>
          <a:srcRect r="32919"/>
          <a:stretch/>
        </p:blipFill>
        <p:spPr>
          <a:xfrm>
            <a:off x="6080760" y="1325880"/>
            <a:ext cx="5394960" cy="45262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446520" y="5266944"/>
            <a:ext cx="1078992" cy="292608"/>
          </a:xfrm>
          <a:prstGeom prst="roundRect">
            <a:avLst>
              <a:gd name="adj" fmla="val 43750"/>
            </a:avLst>
          </a:prstGeom>
          <a:solidFill>
            <a:srgbClr val="E7F2E8"/>
          </a:solidFill>
          <a:ln w="12700">
            <a:solidFill>
              <a:srgbClr val="E7F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46520" y="533552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B7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Healthy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653528" y="5266944"/>
            <a:ext cx="1078992" cy="292608"/>
          </a:xfrm>
          <a:prstGeom prst="roundRect">
            <a:avLst>
              <a:gd name="adj" fmla="val 43750"/>
            </a:avLst>
          </a:prstGeom>
          <a:solidFill>
            <a:srgbClr val="FFF3D5"/>
          </a:solidFill>
          <a:ln w="12700">
            <a:solidFill>
              <a:srgbClr val="FFF3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653528" y="533552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A4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Fungal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860536" y="5266944"/>
            <a:ext cx="1078992" cy="292608"/>
          </a:xfrm>
          <a:prstGeom prst="roundRect">
            <a:avLst>
              <a:gd name="adj" fmla="val 43750"/>
            </a:avLst>
          </a:prstGeom>
          <a:solidFill>
            <a:srgbClr val="F8E6DF"/>
          </a:solidFill>
          <a:ln w="12700">
            <a:solidFill>
              <a:srgbClr val="F8E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860536" y="533552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77A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Bacterial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10067544" y="5266944"/>
            <a:ext cx="1078992" cy="292608"/>
          </a:xfrm>
          <a:prstGeom prst="roundRect">
            <a:avLst>
              <a:gd name="adj" fmla="val 43750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067544" y="533552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Pest Damage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D9D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02920" y="6528816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17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Crop Disease Detection Using Machine Learning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1228832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17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snapshot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84124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17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deliberately messy 5,000-row dataset with 17 predictors and 1 target variable.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51560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5361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7A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5,000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49808" y="201168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17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880360" y="15361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7A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880360" y="201168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17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10912" y="15361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7A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10912" y="201168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17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Disease classes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41464" y="15361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7A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141464" y="201168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17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Predictors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7240" y="2926080"/>
            <a:ext cx="5074920" cy="242316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7620">
            <a:solidFill>
              <a:srgbClr val="D9D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51560" y="3246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7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FAMILIES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51560" y="3685032"/>
            <a:ext cx="73152" cy="7315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52728" y="3611880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Crop &amp; farm context: crop type, region, season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1051560" y="4069080"/>
            <a:ext cx="73152" cy="7315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52728" y="3995928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Soil properties: soil type, pH, N-P-K nutrients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1051560" y="4453128"/>
            <a:ext cx="73152" cy="7315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52728" y="4379976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Environment: temperature, humidity, rainfall, leaf wetness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1051560" y="4837176"/>
            <a:ext cx="73152" cy="7315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252728" y="4764024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Management: pesticide and fertilizer application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6400800" y="2926080"/>
            <a:ext cx="5074920" cy="242316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7620">
            <a:solidFill>
              <a:srgbClr val="D9D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675120" y="3246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A4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CLASSES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675120" y="3685032"/>
            <a:ext cx="73152" cy="7315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76288" y="3611880"/>
            <a:ext cx="4233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Healthy — routine monitoring</a:t>
            </a:r>
            <a:endParaRPr lang="en-US" sz="1140" dirty="0"/>
          </a:p>
        </p:txBody>
      </p:sp>
      <p:sp>
        <p:nvSpPr>
          <p:cNvPr id="27" name="Shape 25"/>
          <p:cNvSpPr/>
          <p:nvPr/>
        </p:nvSpPr>
        <p:spPr>
          <a:xfrm>
            <a:off x="6675120" y="4069080"/>
            <a:ext cx="73152" cy="7315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76288" y="3995928"/>
            <a:ext cx="4233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Fungal — fungicide action</a:t>
            </a:r>
            <a:endParaRPr lang="en-US" sz="1140" dirty="0"/>
          </a:p>
        </p:txBody>
      </p:sp>
      <p:sp>
        <p:nvSpPr>
          <p:cNvPr id="29" name="Shape 27"/>
          <p:cNvSpPr/>
          <p:nvPr/>
        </p:nvSpPr>
        <p:spPr>
          <a:xfrm>
            <a:off x="6675120" y="4453128"/>
            <a:ext cx="73152" cy="7315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876288" y="4379976"/>
            <a:ext cx="4233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Bacterial — bactericide + quarantine</a:t>
            </a:r>
            <a:endParaRPr lang="en-US" sz="1140" dirty="0"/>
          </a:p>
        </p:txBody>
      </p:sp>
      <p:sp>
        <p:nvSpPr>
          <p:cNvPr id="31" name="Shape 29"/>
          <p:cNvSpPr/>
          <p:nvPr/>
        </p:nvSpPr>
        <p:spPr>
          <a:xfrm>
            <a:off x="6675120" y="4837176"/>
            <a:ext cx="73152" cy="7315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876288" y="4764024"/>
            <a:ext cx="4233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Pest Damage — pesticide + bio-control</a:t>
            </a:r>
            <a:endParaRPr lang="en-US" sz="1140" dirty="0"/>
          </a:p>
        </p:txBody>
      </p:sp>
      <p:sp>
        <p:nvSpPr>
          <p:cNvPr id="33" name="Shape 31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D9D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2920" y="6528816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17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Crop Disease Detection Using Machine Learning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228832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17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workflow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84124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17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was structured to move from raw data diagnosis to model recommendation.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51560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66544" y="2816352"/>
            <a:ext cx="411480" cy="0"/>
          </a:xfrm>
          <a:prstGeom prst="line">
            <a:avLst/>
          </a:prstGeom>
          <a:noFill/>
          <a:ln w="25400">
            <a:solidFill>
              <a:srgbClr val="AFC7B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913632" y="2816352"/>
            <a:ext cx="411480" cy="0"/>
          </a:xfrm>
          <a:prstGeom prst="line">
            <a:avLst/>
          </a:prstGeom>
          <a:noFill/>
          <a:ln w="25400">
            <a:solidFill>
              <a:srgbClr val="AFC7B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760720" y="2816352"/>
            <a:ext cx="411480" cy="0"/>
          </a:xfrm>
          <a:prstGeom prst="line">
            <a:avLst/>
          </a:prstGeom>
          <a:noFill/>
          <a:ln w="25400">
            <a:solidFill>
              <a:srgbClr val="AFC7B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607808" y="2816352"/>
            <a:ext cx="411480" cy="0"/>
          </a:xfrm>
          <a:prstGeom prst="line">
            <a:avLst/>
          </a:prstGeom>
          <a:noFill/>
          <a:ln w="25400">
            <a:solidFill>
              <a:srgbClr val="AFC7B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454896" y="2816352"/>
            <a:ext cx="411480" cy="0"/>
          </a:xfrm>
          <a:prstGeom prst="line">
            <a:avLst/>
          </a:prstGeom>
          <a:noFill/>
          <a:ln w="25400">
            <a:solidFill>
              <a:srgbClr val="AFC7B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301984" y="2816352"/>
            <a:ext cx="411480" cy="0"/>
          </a:xfrm>
          <a:prstGeom prst="line">
            <a:avLst/>
          </a:prstGeom>
          <a:noFill/>
          <a:ln w="25400">
            <a:solidFill>
              <a:srgbClr val="AFC7B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78408" y="2176272"/>
            <a:ext cx="658368" cy="658368"/>
          </a:xfrm>
          <a:prstGeom prst="ellipse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78408" y="233172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" y="312724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A3A"/>
                </a:solidFill>
              </a:rPr>
              <a:t>Understand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" y="3493008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1706F"/>
                </a:solidFill>
              </a:rPr>
              <a:t>Problem, target, classes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825496" y="2176272"/>
            <a:ext cx="658368" cy="658368"/>
          </a:xfrm>
          <a:prstGeom prst="ellipse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825496" y="233172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05456" y="312724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A3A"/>
                </a:solidFill>
              </a:rPr>
              <a:t>Audit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14016" y="3493008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1706F"/>
                </a:solidFill>
              </a:rPr>
              <a:t>Missing values, types, outliers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72584" y="2176272"/>
            <a:ext cx="658368" cy="658368"/>
          </a:xfrm>
          <a:prstGeom prst="ellipse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72584" y="233172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52544" y="312724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A3A"/>
                </a:solidFill>
              </a:rPr>
              <a:t>Clean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61104" y="3493008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1706F"/>
                </a:solidFill>
              </a:rPr>
              <a:t>Standardise and impute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519672" y="2176272"/>
            <a:ext cx="658368" cy="658368"/>
          </a:xfrm>
          <a:prstGeom prst="ellipse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19672" y="233172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99632" y="312724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A3A"/>
                </a:solidFill>
              </a:rPr>
              <a:t>Engineer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08192" y="3493008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1706F"/>
                </a:solidFill>
              </a:rPr>
              <a:t>HTI, drought, maturity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366760" y="2176272"/>
            <a:ext cx="658368" cy="658368"/>
          </a:xfrm>
          <a:prstGeom prst="ellipse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366760" y="233172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046720" y="312724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A3A"/>
                </a:solidFill>
              </a:rPr>
              <a:t>Model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955280" y="3493008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1706F"/>
                </a:solidFill>
              </a:rPr>
              <a:t>DT, KNN, RF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0213848" y="2176272"/>
            <a:ext cx="658368" cy="65836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213848" y="233172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893808" y="312724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A3A"/>
                </a:solidFill>
              </a:rPr>
              <a:t>Evaluate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802368" y="3493008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1706F"/>
                </a:solidFill>
              </a:rPr>
              <a:t>F1, accuracy, confusion matrix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828800" y="4956048"/>
            <a:ext cx="45720" cy="594360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993392" y="4983480"/>
            <a:ext cx="82478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workflow decision: clean and impute before feature engineering so engineered variables are not built from unreliable values.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D9D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2920" y="6528816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17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Crop Disease Detection Using Machine Learning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228832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17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quality findings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84124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17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raw dataset had missing values, inconsistent categories and physically implausible records.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51560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ppt_assets/data_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89888"/>
            <a:ext cx="5669280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20840" y="1536192"/>
            <a:ext cx="461772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7620">
            <a:solidFill>
              <a:srgbClr val="D9D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004304" y="18470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7A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NEEDED ATTENTION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022592" y="2286000"/>
            <a:ext cx="73152" cy="7315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223760" y="2212848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categorical missingness in season, irrigation, soil type and region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7022592" y="2688336"/>
            <a:ext cx="73152" cy="7315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223760" y="2615184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Inconsistent capitalisation such as WHEAT / wheat / Wheat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7022592" y="3090672"/>
            <a:ext cx="73152" cy="7315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223760" y="3017520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 temperature values such as -5, 99 and 120°C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7022592" y="3493008"/>
            <a:ext cx="73152" cy="7315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223760" y="3419856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Humidity records below 0% or above 100%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7022592" y="3895344"/>
            <a:ext cx="73152" cy="7315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223760" y="3822192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Soil pH outside the expected 3–10 range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D9D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02920" y="6528816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17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Crop Disease Detection Using Machine Learning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11228832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17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 highlights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84124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17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target is moderately imbalanced, while most numerical relationships are weak.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51560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ppt_assets/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25880"/>
            <a:ext cx="5230368" cy="3063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1463040"/>
            <a:ext cx="5212080" cy="2816352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7620">
            <a:solidFill>
              <a:srgbClr val="D9D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629400" y="17830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7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OBSERVATIONS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629400" y="2221992"/>
            <a:ext cx="73152" cy="7315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30568" y="2148840"/>
            <a:ext cx="4142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Healthy is the largest class; Pest Damage is the smallest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629400" y="2642616"/>
            <a:ext cx="73152" cy="7315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830568" y="2569464"/>
            <a:ext cx="4142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imbalance is moderate, not extreme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29400" y="3063240"/>
            <a:ext cx="73152" cy="7315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830568" y="2990088"/>
            <a:ext cx="4142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soil_pH medians across classes are very close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629400" y="3483864"/>
            <a:ext cx="73152" cy="7315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830568" y="3410712"/>
            <a:ext cx="4142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Correlation heatmap shows no strong multicollinearity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143000" y="5166360"/>
            <a:ext cx="45720" cy="576072"/>
          </a:xfrm>
          <a:prstGeom prst="rect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307592" y="5193792"/>
            <a:ext cx="980236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should not rely only on accuracy; Macro F1 is important because it gives equal weight to each class.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D9D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02920" y="6528816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17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Crop Disease Detection Using Machine Learning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11228832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17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Cleaning and feature engineering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84124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17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cleaned dataset preserved all 5,000 rows and added domain-inspired predictors.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51560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481328"/>
            <a:ext cx="5074920" cy="4407408"/>
          </a:xfrm>
          <a:prstGeom prst="roundRect">
            <a:avLst>
              <a:gd name="adj" fmla="val 1452"/>
            </a:avLst>
          </a:prstGeom>
          <a:solidFill>
            <a:srgbClr val="FFFFFF"/>
          </a:solidFill>
          <a:ln w="7620">
            <a:solidFill>
              <a:srgbClr val="D9D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4128" y="1783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7A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CLEANING ACTIONS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24128" y="2249424"/>
            <a:ext cx="73152" cy="7315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25296" y="2176272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Standardised categorical values to Title Case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24128" y="2679192"/>
            <a:ext cx="73152" cy="7315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25296" y="2606040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Converted invalid temperature, humidity and pH values to NaN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24128" y="3108960"/>
            <a:ext cx="73152" cy="7315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25296" y="3035808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used for near-symmetric numerical columns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24128" y="3538728"/>
            <a:ext cx="73152" cy="7315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25296" y="3465576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 used for strongly skewed rainfall and fertilizer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24128" y="3968496"/>
            <a:ext cx="73152" cy="7315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25296" y="3895344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 used for categorical and binary values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1481328"/>
            <a:ext cx="5166360" cy="4407408"/>
          </a:xfrm>
          <a:prstGeom prst="roundRect">
            <a:avLst>
              <a:gd name="adj" fmla="val 1452"/>
            </a:avLst>
          </a:prstGeom>
          <a:solidFill>
            <a:srgbClr val="FFFFFF"/>
          </a:solidFill>
          <a:ln w="7620">
            <a:solidFill>
              <a:srgbClr val="D9D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01968" y="1783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7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FEATURES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601968" y="21762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A3A"/>
                </a:solidFill>
              </a:rPr>
              <a:t>HTI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452360" y="22128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706F"/>
                </a:solidFill>
              </a:rPr>
              <a:t>(humidity × temperature) / 100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01968" y="2926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A3A"/>
                </a:solidFill>
              </a:rPr>
              <a:t>drought_stress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12480" y="296265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1706F"/>
                </a:solidFill>
              </a:rPr>
              <a:t>1 when rain gap &gt; 20 days and rainfall &lt; 10mm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601968" y="36758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A3A"/>
                </a:solidFill>
              </a:rPr>
              <a:t>maturity_stage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366760" y="3712464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1706F"/>
                </a:solidFill>
              </a:rPr>
              <a:t>Seedling → Vegetative → Reproductive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699248" y="46177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7A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699248" y="5093208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17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cleaned feature-engineered columns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D9D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6528816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17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Crop Disease Detection Using Machine Learning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228832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17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Modelling setup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84124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17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baseline classifiers were trained and evaluated under the same 80/20 split.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51560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1645920"/>
            <a:ext cx="315468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7620">
            <a:solidFill>
              <a:srgbClr val="D9D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0" y="1965960"/>
            <a:ext cx="804672" cy="804672"/>
          </a:xfrm>
          <a:prstGeom prst="ellipse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011680" y="214884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69848" y="29718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A3A"/>
                </a:solidFill>
              </a:rPr>
              <a:t>Decision Tree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61288" y="342900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7A57"/>
                </a:solidFill>
              </a:rPr>
              <a:t>Unscaled 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3822192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1706F"/>
                </a:solidFill>
              </a:rPr>
              <a:t>Interpretable baseline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590288" y="1645920"/>
            <a:ext cx="315468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7620">
            <a:solidFill>
              <a:srgbClr val="D9D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760720" y="1965960"/>
            <a:ext cx="804672" cy="804672"/>
          </a:xfrm>
          <a:prstGeom prst="ellipse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60720" y="214884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18888" y="29718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A3A"/>
                </a:solidFill>
              </a:rPr>
              <a:t>KNN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10328" y="342900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7A57"/>
                </a:solidFill>
              </a:rPr>
              <a:t>Scaled data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3822192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1706F"/>
                </a:solidFill>
              </a:rPr>
              <a:t>k = 3, 5, 7 tested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8339328" y="1645920"/>
            <a:ext cx="315468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7620">
            <a:solidFill>
              <a:srgbClr val="D9D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509760" y="1965960"/>
            <a:ext cx="804672" cy="80467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509760" y="214884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67928" y="29718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A3A"/>
                </a:solidFill>
              </a:rPr>
              <a:t>Random Forest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59368" y="342900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7A57"/>
                </a:solidFill>
              </a:rPr>
              <a:t>Unscaled data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0" y="3822192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1706F"/>
                </a:solidFill>
              </a:rPr>
              <a:t>Ensemble of trees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1051560" y="5138928"/>
            <a:ext cx="45720" cy="566928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216152" y="5166360"/>
            <a:ext cx="9756648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Stratified sampling was used so the train and test sets preserve similar disease-label proportions.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D9D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6528816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17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Crop Disease Detection Using Machine Learning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228832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17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comparison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84124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17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delivered the strongest test performance among the evaluated models.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51560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ppt_assets/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371600"/>
            <a:ext cx="6400800" cy="3611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1572768"/>
            <a:ext cx="3977640" cy="333756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7620">
            <a:solidFill>
              <a:srgbClr val="D9D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827264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A4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 SUMMARY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973568" y="230428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7A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68.0%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973568" y="2779776"/>
            <a:ext cx="1444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17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test accuracy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473184" y="230428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7A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0.665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9473184" y="2779776"/>
            <a:ext cx="1444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17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Macro F1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973568" y="3730752"/>
            <a:ext cx="73152" cy="7315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174736" y="3657600"/>
            <a:ext cx="2907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Tree overfit with 100% train accuracy and 60.2% test accuracy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7973568" y="4059936"/>
            <a:ext cx="73152" cy="7315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174736" y="3986784"/>
            <a:ext cx="2907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KNN had the weakest test performance at 49.4%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7973568" y="4389120"/>
            <a:ext cx="73152" cy="7315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174736" y="4315968"/>
            <a:ext cx="2907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also shows overfitting, but generalised best among the three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D9D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02920" y="6528816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17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Crop Disease Detection Using Machine Learning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11228832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17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84124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17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confusion matrix reveals where the selected model struggles.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51560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ppt_assets/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261872"/>
            <a:ext cx="4892040" cy="42245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72200" y="1417320"/>
            <a:ext cx="5257800" cy="4023360"/>
          </a:xfrm>
          <a:prstGeom prst="roundRect">
            <a:avLst>
              <a:gd name="adj" fmla="val 1591"/>
            </a:avLst>
          </a:prstGeom>
          <a:solidFill>
            <a:srgbClr val="FFFFFF"/>
          </a:solidFill>
          <a:ln w="7620">
            <a:solidFill>
              <a:srgbClr val="D9D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46520" y="17373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7A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ERROR PATTERN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446520" y="2121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A3A"/>
                </a:solidFill>
              </a:rPr>
              <a:t>Bacterial → Healthy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784080" y="21854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77A61"/>
                </a:solidFill>
              </a:rPr>
              <a:t>58 cases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46520" y="2889504"/>
            <a:ext cx="73152" cy="7315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647688" y="2816352"/>
            <a:ext cx="4325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Bacterial has the lowest F1-score at ~0.469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446520" y="3310128"/>
            <a:ext cx="73152" cy="7315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647688" y="3236976"/>
            <a:ext cx="4325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 for Bacterial is ~0.422, meaning many actual Bacterial cases are missed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6446520" y="3730752"/>
            <a:ext cx="73152" cy="7315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647688" y="3657600"/>
            <a:ext cx="4325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Healthy has the strongest class-wise performance due to high recall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6446520" y="4151376"/>
            <a:ext cx="73152" cy="7315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647688" y="4078224"/>
            <a:ext cx="4325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Misclassifications suggest overlap in patterns between bacterial stress and healthy readings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D9D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02920" y="6528816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17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Crop Disease Detection Using Machine Learning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11228832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17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 and next steps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84124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17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is the best candidate from the current experiment, with clear scope for improvement.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51560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" y="1444752"/>
            <a:ext cx="5029200" cy="4315968"/>
          </a:xfrm>
          <a:prstGeom prst="roundRect">
            <a:avLst>
              <a:gd name="adj" fmla="val 1483"/>
            </a:avLst>
          </a:prstGeom>
          <a:solidFill>
            <a:srgbClr val="FFFFFF"/>
          </a:solidFill>
          <a:ln w="7620">
            <a:solidFill>
              <a:srgbClr val="D9D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78992" y="17556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7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78992" y="2157984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2A3A"/>
                </a:solidFill>
              </a:rPr>
              <a:t>Use Random Forest as the selected baseline model for deployment discussion.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78992" y="3182112"/>
            <a:ext cx="45720" cy="566928"/>
          </a:xfrm>
          <a:prstGeom prst="rect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43584" y="3209544"/>
            <a:ext cx="411480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Reason: highest test accuracy and Macro F1 among the three evaluated models.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78992" y="40416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D77A61"/>
                </a:solidFill>
              </a:rPr>
              <a:t>Caution: training accuracy is 100%, so further tuning is needed before production use.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27648" y="1444752"/>
            <a:ext cx="5074920" cy="4315968"/>
          </a:xfrm>
          <a:prstGeom prst="roundRect">
            <a:avLst>
              <a:gd name="adj" fmla="val 1483"/>
            </a:avLst>
          </a:prstGeom>
          <a:solidFill>
            <a:srgbClr val="FFFFFF"/>
          </a:solidFill>
          <a:ln w="7620">
            <a:solidFill>
              <a:srgbClr val="D9D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01968" y="17556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A4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601968" y="2231136"/>
            <a:ext cx="73152" cy="7315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03136" y="2157984"/>
            <a:ext cx="3959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Tune max_depth, min_samples_split and min_samples_leaf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01968" y="2706624"/>
            <a:ext cx="73152" cy="7315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03136" y="2633472"/>
            <a:ext cx="3959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Bacterial class errors with domain experts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01968" y="3182112"/>
            <a:ext cx="73152" cy="7315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03136" y="3108960"/>
            <a:ext cx="3959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class weights or balanced sampling if recall remains low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01968" y="3657600"/>
            <a:ext cx="73152" cy="7315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03136" y="3584448"/>
            <a:ext cx="3959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on fresh field data before operational use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01968" y="4133088"/>
            <a:ext cx="73152" cy="7315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03136" y="4059936"/>
            <a:ext cx="3959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model performance after deployment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D9D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6528816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17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Crop Disease Detection Using Machine Learning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228832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17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853</Words>
  <Application>Microsoft Macintosh PowerPoint</Application>
  <PresentationFormat>Widescreen</PresentationFormat>
  <Paragraphs>184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CEDLEARN Capstone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Crop Disease Detection Using Machine Learning</dc:title>
  <dc:subject>Crop Disease Detection Using Machine Learning</dc:subject>
  <dc:creator>ChatGPT</dc:creator>
  <cp:lastModifiedBy>Mounika Veesam (Research Associate)</cp:lastModifiedBy>
  <cp:revision>4</cp:revision>
  <dcterms:created xsi:type="dcterms:W3CDTF">2026-09-21T06:07:58Z</dcterms:created>
  <dcterms:modified xsi:type="dcterms:W3CDTF">2026-09-21T06:28:39Z</dcterms:modified>
</cp:coreProperties>
</file>